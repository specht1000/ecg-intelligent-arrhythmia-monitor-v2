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74" r:id="rId11"/>
    <p:sldId id="265" r:id="rId12"/>
    <p:sldId id="266" r:id="rId13"/>
    <p:sldId id="273" r:id="rId14"/>
    <p:sldId id="267" r:id="rId15"/>
    <p:sldId id="268" r:id="rId16"/>
    <p:sldId id="272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539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7801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56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907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304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026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299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9708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3443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018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6416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402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8463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294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92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63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BE65A-4143-44E7-A468-0F0258D5A070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6F59DE7-8895-48AC-9F4F-A37AFBD28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508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D802257-3045-AE09-8507-A5867627BDDA}"/>
              </a:ext>
            </a:extLst>
          </p:cNvPr>
          <p:cNvSpPr txBox="1"/>
          <p:nvPr/>
        </p:nvSpPr>
        <p:spPr>
          <a:xfrm>
            <a:off x="176982" y="2180149"/>
            <a:ext cx="120150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Low-Cost Intelligent Real-Time ECG Monitoring System Using Artificial Intelligence</a:t>
            </a:r>
            <a:endParaRPr lang="pt-BR" sz="36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092CEC1-B82C-E982-99FD-B88D81ECB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652" y="282552"/>
            <a:ext cx="1842523" cy="184252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DF4A1D4-574C-2547-EC10-7FE25A5E8AA7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D2A2876-DE5D-7B00-C221-CDEBBFEDA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469" y="192817"/>
            <a:ext cx="1930018" cy="193001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66A215C-C4B2-D299-20A6-E9762E1FD578}"/>
              </a:ext>
            </a:extLst>
          </p:cNvPr>
          <p:cNvSpPr txBox="1"/>
          <p:nvPr/>
        </p:nvSpPr>
        <p:spPr>
          <a:xfrm>
            <a:off x="2170444" y="4240404"/>
            <a:ext cx="94856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Guilherme Martins Specht</a:t>
            </a:r>
          </a:p>
          <a:p>
            <a:r>
              <a:rPr lang="pt-BR" dirty="0"/>
              <a:t>Prof. Laurent Latorre</a:t>
            </a:r>
          </a:p>
          <a:p>
            <a:r>
              <a:rPr lang="pt-BR" dirty="0"/>
              <a:t>MEA4</a:t>
            </a:r>
          </a:p>
          <a:p>
            <a:r>
              <a:rPr lang="pt-BR" dirty="0"/>
              <a:t>05/06/2026</a:t>
            </a:r>
          </a:p>
          <a:p>
            <a:r>
              <a:rPr lang="pt-BR" dirty="0" err="1"/>
              <a:t>Université</a:t>
            </a:r>
            <a:r>
              <a:rPr lang="pt-BR" dirty="0"/>
              <a:t> de Montpellier / </a:t>
            </a:r>
            <a:r>
              <a:rPr lang="pt-BR" dirty="0" err="1"/>
              <a:t>Polytech</a:t>
            </a:r>
            <a:r>
              <a:rPr lang="pt-BR" dirty="0"/>
              <a:t> Montpellier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0CB44EB-B57C-7A28-4D56-1FD00AE98AAE}"/>
              </a:ext>
            </a:extLst>
          </p:cNvPr>
          <p:cNvSpPr txBox="1"/>
          <p:nvPr/>
        </p:nvSpPr>
        <p:spPr>
          <a:xfrm>
            <a:off x="11474245" y="6272981"/>
            <a:ext cx="55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4061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FB5F1B-478F-51D4-6907-45CBEFB44C93}"/>
              </a:ext>
            </a:extLst>
          </p:cNvPr>
          <p:cNvSpPr txBox="1"/>
          <p:nvPr/>
        </p:nvSpPr>
        <p:spPr>
          <a:xfrm>
            <a:off x="1748413" y="1680776"/>
            <a:ext cx="9656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Cardiovascular diseases are leading causes of death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Need for rapid ECG interpretation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Lack of low-cost intelligent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Importance in emergency and remote environments</a:t>
            </a:r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35CDB33-FA50-1A42-BBB0-6A7448696506}"/>
              </a:ext>
            </a:extLst>
          </p:cNvPr>
          <p:cNvSpPr txBox="1"/>
          <p:nvPr/>
        </p:nvSpPr>
        <p:spPr>
          <a:xfrm>
            <a:off x="1748413" y="701482"/>
            <a:ext cx="10443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Motivation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326FC4C-E11B-1811-A440-0FC3C0069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455" y="3460289"/>
            <a:ext cx="1866751" cy="29082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D30F01C-FCF0-D99D-7370-A3DEEC40C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006" y="3355407"/>
            <a:ext cx="2908202" cy="290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68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20F1C21-CBB8-DCBC-3684-B375337680CB}"/>
              </a:ext>
            </a:extLst>
          </p:cNvPr>
          <p:cNvSpPr txBox="1"/>
          <p:nvPr/>
        </p:nvSpPr>
        <p:spPr>
          <a:xfrm>
            <a:off x="1740309" y="66090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 err="1"/>
              <a:t>Problem</a:t>
            </a:r>
            <a:r>
              <a:rPr lang="pt-BR" sz="3200" dirty="0"/>
              <a:t> </a:t>
            </a:r>
            <a:r>
              <a:rPr lang="pt-BR" sz="3200" dirty="0" err="1"/>
              <a:t>Statement</a:t>
            </a:r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03E340-05C4-4904-C108-00944191302D}"/>
              </a:ext>
            </a:extLst>
          </p:cNvPr>
          <p:cNvSpPr txBox="1"/>
          <p:nvPr/>
        </p:nvSpPr>
        <p:spPr>
          <a:xfrm>
            <a:off x="1740309" y="1532587"/>
            <a:ext cx="895718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/>
              <a:t>How</a:t>
            </a:r>
            <a:r>
              <a:rPr lang="pt-BR" sz="2000" dirty="0"/>
              <a:t> </a:t>
            </a:r>
            <a:r>
              <a:rPr lang="pt-BR" sz="2000" dirty="0" err="1"/>
              <a:t>to</a:t>
            </a:r>
            <a:r>
              <a:rPr lang="pt-BR" sz="2000" dirty="0"/>
              <a:t> </a:t>
            </a:r>
            <a:r>
              <a:rPr lang="pt-BR" sz="2000" dirty="0" err="1"/>
              <a:t>develop</a:t>
            </a:r>
            <a:r>
              <a:rPr lang="pt-BR" sz="2000" dirty="0"/>
              <a:t> a </a:t>
            </a:r>
            <a:r>
              <a:rPr lang="pt-BR" sz="2000" dirty="0" err="1"/>
              <a:t>low-cost</a:t>
            </a:r>
            <a:r>
              <a:rPr lang="pt-BR" sz="2000" dirty="0"/>
              <a:t> </a:t>
            </a:r>
            <a:r>
              <a:rPr lang="pt-BR" sz="2000" dirty="0" err="1"/>
              <a:t>embedded</a:t>
            </a:r>
            <a:r>
              <a:rPr lang="pt-BR" sz="2000" dirty="0"/>
              <a:t> system </a:t>
            </a:r>
            <a:r>
              <a:rPr lang="pt-BR" sz="2000" dirty="0" err="1"/>
              <a:t>capable</a:t>
            </a:r>
            <a:r>
              <a:rPr lang="pt-BR" sz="2000" dirty="0"/>
              <a:t> </a:t>
            </a:r>
            <a:r>
              <a:rPr lang="pt-BR" sz="2000" dirty="0" err="1"/>
              <a:t>of</a:t>
            </a:r>
            <a:r>
              <a:rPr lang="pt-BR" sz="2000" dirty="0"/>
              <a:t>:</a:t>
            </a:r>
          </a:p>
          <a:p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 err="1"/>
              <a:t>acquiring</a:t>
            </a:r>
            <a:r>
              <a:rPr lang="pt-BR" sz="2000" dirty="0"/>
              <a:t> ECG </a:t>
            </a:r>
            <a:r>
              <a:rPr lang="pt-BR" sz="2000" dirty="0" err="1"/>
              <a:t>signals</a:t>
            </a:r>
            <a:r>
              <a:rPr lang="pt-BR" sz="2000" dirty="0"/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 err="1"/>
              <a:t>processing</a:t>
            </a:r>
            <a:r>
              <a:rPr lang="pt-BR" sz="2000" dirty="0"/>
              <a:t> </a:t>
            </a:r>
            <a:r>
              <a:rPr lang="pt-BR" sz="2000" dirty="0" err="1"/>
              <a:t>them</a:t>
            </a:r>
            <a:r>
              <a:rPr lang="pt-BR" sz="2000" dirty="0"/>
              <a:t> in real time,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 err="1"/>
              <a:t>and</a:t>
            </a:r>
            <a:r>
              <a:rPr lang="pt-BR" sz="2000" dirty="0"/>
              <a:t> </a:t>
            </a:r>
            <a:r>
              <a:rPr lang="pt-BR" sz="2000" dirty="0" err="1"/>
              <a:t>classifying</a:t>
            </a:r>
            <a:r>
              <a:rPr lang="pt-BR" sz="2000" dirty="0"/>
              <a:t> </a:t>
            </a:r>
            <a:r>
              <a:rPr lang="pt-BR" sz="2000" dirty="0" err="1"/>
              <a:t>cardiac</a:t>
            </a:r>
            <a:r>
              <a:rPr lang="pt-BR" sz="2000" dirty="0"/>
              <a:t> </a:t>
            </a:r>
            <a:r>
              <a:rPr lang="pt-BR" sz="2000" dirty="0" err="1"/>
              <a:t>rhythms</a:t>
            </a:r>
            <a:r>
              <a:rPr lang="pt-BR" sz="2000" dirty="0"/>
              <a:t> </a:t>
            </a:r>
            <a:r>
              <a:rPr lang="pt-BR" sz="2000" dirty="0" err="1"/>
              <a:t>using</a:t>
            </a:r>
            <a:r>
              <a:rPr lang="pt-BR" sz="2000" dirty="0"/>
              <a:t> AI?</a:t>
            </a:r>
          </a:p>
        </p:txBody>
      </p:sp>
    </p:spTree>
    <p:extLst>
      <p:ext uri="{BB962C8B-B14F-4D97-AF65-F5344CB8AC3E}">
        <p14:creationId xmlns:p14="http://schemas.microsoft.com/office/powerpoint/2010/main" val="3955248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445DE1B-C4AB-E8B5-D784-0C57A3D45909}"/>
              </a:ext>
            </a:extLst>
          </p:cNvPr>
          <p:cNvSpPr txBox="1"/>
          <p:nvPr/>
        </p:nvSpPr>
        <p:spPr>
          <a:xfrm>
            <a:off x="1700981" y="68057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 err="1"/>
              <a:t>Objectives</a:t>
            </a:r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4BE3F22-E201-6CF4-0EDF-6E7C8D5EF2C9}"/>
              </a:ext>
            </a:extLst>
          </p:cNvPr>
          <p:cNvSpPr txBox="1"/>
          <p:nvPr/>
        </p:nvSpPr>
        <p:spPr>
          <a:xfrm>
            <a:off x="1700981" y="1509533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General </a:t>
            </a:r>
            <a:r>
              <a:rPr lang="pt-BR" sz="2000" b="1" dirty="0" err="1"/>
              <a:t>objective</a:t>
            </a:r>
            <a:endParaRPr lang="pt-BR" sz="20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000" dirty="0"/>
              <a:t> </a:t>
            </a:r>
            <a:r>
              <a:rPr lang="pt-BR" sz="2000" dirty="0" err="1"/>
              <a:t>Develop</a:t>
            </a:r>
            <a:r>
              <a:rPr lang="pt-BR" sz="2000" dirty="0"/>
              <a:t> a real-time </a:t>
            </a:r>
            <a:r>
              <a:rPr lang="pt-BR" sz="2000" dirty="0" err="1"/>
              <a:t>intelligent</a:t>
            </a:r>
            <a:r>
              <a:rPr lang="pt-BR" sz="2000" dirty="0"/>
              <a:t> ECG monitor</a:t>
            </a:r>
          </a:p>
          <a:p>
            <a:pPr lvl="1"/>
            <a:r>
              <a:rPr lang="pt-BR" sz="2000" dirty="0"/>
              <a:t> </a:t>
            </a:r>
          </a:p>
          <a:p>
            <a:pPr>
              <a:buNone/>
            </a:pPr>
            <a:r>
              <a:rPr lang="pt-BR" sz="2000" b="1" dirty="0" err="1"/>
              <a:t>Specific</a:t>
            </a:r>
            <a:r>
              <a:rPr lang="pt-BR" sz="2000" b="1" dirty="0"/>
              <a:t> </a:t>
            </a:r>
            <a:r>
              <a:rPr lang="pt-BR" sz="2000" b="1" dirty="0" err="1"/>
              <a:t>objectives</a:t>
            </a:r>
            <a:endParaRPr lang="pt-BR" sz="20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000" dirty="0"/>
              <a:t> </a:t>
            </a:r>
            <a:r>
              <a:rPr lang="pt-BR" sz="2000" dirty="0" err="1"/>
              <a:t>Acquire</a:t>
            </a:r>
            <a:r>
              <a:rPr lang="pt-BR" sz="2000" dirty="0"/>
              <a:t> ECG </a:t>
            </a:r>
            <a:r>
              <a:rPr lang="pt-BR" sz="2000" dirty="0" err="1"/>
              <a:t>with</a:t>
            </a:r>
            <a:r>
              <a:rPr lang="pt-BR" sz="2000" dirty="0"/>
              <a:t> AD8232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000" dirty="0"/>
              <a:t> </a:t>
            </a:r>
            <a:r>
              <a:rPr lang="pt-BR" sz="2000" dirty="0" err="1"/>
              <a:t>Process</a:t>
            </a:r>
            <a:r>
              <a:rPr lang="pt-BR" sz="2000" dirty="0"/>
              <a:t> ECG </a:t>
            </a:r>
            <a:r>
              <a:rPr lang="pt-BR" sz="2000" dirty="0" err="1"/>
              <a:t>digitally</a:t>
            </a:r>
            <a:r>
              <a:rPr lang="pt-BR" sz="20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000" dirty="0"/>
              <a:t> </a:t>
            </a:r>
            <a:r>
              <a:rPr lang="pt-BR" sz="2000" dirty="0" err="1"/>
              <a:t>Detect</a:t>
            </a:r>
            <a:r>
              <a:rPr lang="pt-BR" sz="2000" dirty="0"/>
              <a:t> R-</a:t>
            </a:r>
            <a:r>
              <a:rPr lang="pt-BR" sz="2000" dirty="0" err="1"/>
              <a:t>peaks</a:t>
            </a:r>
            <a:r>
              <a:rPr lang="pt-BR" sz="20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000" dirty="0"/>
              <a:t> </a:t>
            </a:r>
            <a:r>
              <a:rPr lang="pt-BR" sz="2000" dirty="0" err="1"/>
              <a:t>Calculate</a:t>
            </a:r>
            <a:r>
              <a:rPr lang="pt-BR" sz="2000" dirty="0"/>
              <a:t> BPM </a:t>
            </a:r>
            <a:r>
              <a:rPr lang="pt-BR" sz="2000" dirty="0" err="1"/>
              <a:t>and</a:t>
            </a:r>
            <a:r>
              <a:rPr lang="pt-BR" sz="2000" dirty="0"/>
              <a:t> RR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000" dirty="0"/>
              <a:t> </a:t>
            </a:r>
            <a:r>
              <a:rPr lang="pt-BR" sz="2000" dirty="0" err="1"/>
              <a:t>Classify</a:t>
            </a:r>
            <a:r>
              <a:rPr lang="pt-BR" sz="2000" dirty="0"/>
              <a:t> </a:t>
            </a:r>
            <a:r>
              <a:rPr lang="pt-BR" sz="2000" dirty="0" err="1"/>
              <a:t>rhythms</a:t>
            </a:r>
            <a:r>
              <a:rPr lang="pt-BR" sz="2000" dirty="0"/>
              <a:t> </a:t>
            </a:r>
            <a:r>
              <a:rPr lang="pt-BR" sz="2000" dirty="0" err="1"/>
              <a:t>using</a:t>
            </a:r>
            <a:r>
              <a:rPr lang="pt-BR" sz="2000" dirty="0"/>
              <a:t> CNN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000" dirty="0"/>
              <a:t> </a:t>
            </a:r>
            <a:r>
              <a:rPr lang="pt-BR" sz="2000" dirty="0" err="1"/>
              <a:t>Create</a:t>
            </a:r>
            <a:r>
              <a:rPr lang="pt-BR" sz="2000" dirty="0"/>
              <a:t> real-time </a:t>
            </a:r>
            <a:r>
              <a:rPr lang="pt-BR" sz="2000" dirty="0" err="1"/>
              <a:t>monitoring</a:t>
            </a:r>
            <a:r>
              <a:rPr lang="pt-BR" sz="2000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617077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9D45105-564B-71B7-A208-ED41CDAF9934}"/>
              </a:ext>
            </a:extLst>
          </p:cNvPr>
          <p:cNvSpPr txBox="1"/>
          <p:nvPr/>
        </p:nvSpPr>
        <p:spPr>
          <a:xfrm>
            <a:off x="1671483" y="66090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ECG Fundamentals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198B7DA-86D1-5571-AF2F-CEDCCDE338DE}"/>
              </a:ext>
            </a:extLst>
          </p:cNvPr>
          <p:cNvSpPr txBox="1"/>
          <p:nvPr/>
        </p:nvSpPr>
        <p:spPr>
          <a:xfrm>
            <a:off x="1671483" y="1435114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Image ECG: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000" dirty="0"/>
              <a:t> P wave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000" dirty="0"/>
              <a:t> QRS complex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000" dirty="0"/>
              <a:t> T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D671C76-C135-7386-F989-8D2E78B2093D}"/>
                  </a:ext>
                </a:extLst>
              </p:cNvPr>
              <p:cNvSpPr txBox="1"/>
              <p:nvPr/>
            </p:nvSpPr>
            <p:spPr>
              <a:xfrm>
                <a:off x="1229033" y="2794211"/>
                <a:ext cx="3087329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𝐵𝑃𝑀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𝑅𝑅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D671C76-C135-7386-F989-8D2E78B2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033" y="2794211"/>
                <a:ext cx="3087329" cy="6347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>
            <a:extLst>
              <a:ext uri="{FF2B5EF4-FFF2-40B4-BE49-F238E27FC236}">
                <a16:creationId xmlns:a16="http://schemas.microsoft.com/office/drawing/2014/main" id="{95899D5C-2C78-42CC-4B81-DE4C1903E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500" y="1435114"/>
            <a:ext cx="6251763" cy="425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967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4FF93E8-0647-EE53-0734-A2DF9F239C8D}"/>
              </a:ext>
            </a:extLst>
          </p:cNvPr>
          <p:cNvSpPr txBox="1"/>
          <p:nvPr/>
        </p:nvSpPr>
        <p:spPr>
          <a:xfrm>
            <a:off x="1779638" y="66090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 err="1"/>
              <a:t>Cardiac</a:t>
            </a:r>
            <a:r>
              <a:rPr lang="pt-BR" sz="3200" dirty="0"/>
              <a:t> </a:t>
            </a:r>
            <a:r>
              <a:rPr lang="pt-BR" sz="3200" dirty="0" err="1"/>
              <a:t>Arrhythmias</a:t>
            </a:r>
            <a:endParaRPr lang="pt-BR" sz="3200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7D080E8-F2BB-E8D5-B42B-FEE314B44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850694"/>
              </p:ext>
            </p:extLst>
          </p:nvPr>
        </p:nvGraphicFramePr>
        <p:xfrm>
          <a:off x="1868129" y="1417754"/>
          <a:ext cx="8750711" cy="1915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3716">
                  <a:extLst>
                    <a:ext uri="{9D8B030D-6E8A-4147-A177-3AD203B41FA5}">
                      <a16:colId xmlns:a16="http://schemas.microsoft.com/office/drawing/2014/main" val="4162706259"/>
                    </a:ext>
                  </a:extLst>
                </a:gridCol>
                <a:gridCol w="4376995">
                  <a:extLst>
                    <a:ext uri="{9D8B030D-6E8A-4147-A177-3AD203B41FA5}">
                      <a16:colId xmlns:a16="http://schemas.microsoft.com/office/drawing/2014/main" val="2462858442"/>
                    </a:ext>
                  </a:extLst>
                </a:gridCol>
              </a:tblGrid>
              <a:tr h="47884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RHYTHM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183678"/>
                  </a:ext>
                </a:extLst>
              </a:tr>
              <a:tr h="478845"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Bradycardia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&lt; 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373828"/>
                  </a:ext>
                </a:extLst>
              </a:tr>
              <a:tr h="47884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60 - 100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314777"/>
                  </a:ext>
                </a:extLst>
              </a:tr>
              <a:tr h="478845"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Tachycardia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&gt;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721132"/>
                  </a:ext>
                </a:extLst>
              </a:tr>
            </a:tbl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73AE0E90-CDB7-5DC4-03CF-E6C658790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234" y="3524867"/>
            <a:ext cx="3138404" cy="288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74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A024DFD-EE2C-91FC-787C-932ED0894E54}"/>
              </a:ext>
            </a:extLst>
          </p:cNvPr>
          <p:cNvSpPr txBox="1"/>
          <p:nvPr/>
        </p:nvSpPr>
        <p:spPr>
          <a:xfrm>
            <a:off x="1700981" y="64124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 err="1"/>
              <a:t>Components</a:t>
            </a:r>
            <a:r>
              <a:rPr lang="pt-BR" sz="3200" dirty="0"/>
              <a:t> </a:t>
            </a:r>
            <a:r>
              <a:rPr lang="pt-BR" sz="3200" dirty="0" err="1"/>
              <a:t>Used</a:t>
            </a:r>
            <a:endParaRPr lang="pt-BR" sz="3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24F1B58-E19B-B705-9406-26085616A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65" y="1563329"/>
            <a:ext cx="2188042" cy="21843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8B847FE-CAE3-068B-648B-74679153A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55" y="1563328"/>
            <a:ext cx="2184395" cy="218439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D4434EB-147B-F7FB-5C8A-C98FFA4D9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457" y="1563328"/>
            <a:ext cx="2184395" cy="2184395"/>
          </a:xfrm>
          <a:prstGeom prst="rect">
            <a:avLst/>
          </a:prstGeom>
        </p:spPr>
      </p:pic>
      <p:pic>
        <p:nvPicPr>
          <p:cNvPr id="10" name="Imagem 9" descr="OLED Display Module (SSD1306) — SunFounder Universal Maker Sensor Kit  documentation">
            <a:extLst>
              <a:ext uri="{FF2B5EF4-FFF2-40B4-BE49-F238E27FC236}">
                <a16:creationId xmlns:a16="http://schemas.microsoft.com/office/drawing/2014/main" id="{0C76D869-F82D-C9CE-1509-E77A4E315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2259" y="1563328"/>
            <a:ext cx="2463340" cy="215542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4020693-3338-08A1-90CB-78E4D441865A}"/>
              </a:ext>
            </a:extLst>
          </p:cNvPr>
          <p:cNvSpPr txBox="1"/>
          <p:nvPr/>
        </p:nvSpPr>
        <p:spPr>
          <a:xfrm>
            <a:off x="514965" y="3747723"/>
            <a:ext cx="2184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ESP32-S3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9A53012-8B5D-1C86-E2C9-D137C0337EE5}"/>
              </a:ext>
            </a:extLst>
          </p:cNvPr>
          <p:cNvSpPr txBox="1"/>
          <p:nvPr/>
        </p:nvSpPr>
        <p:spPr>
          <a:xfrm>
            <a:off x="3204655" y="3747723"/>
            <a:ext cx="2184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AD8232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1378286-E80D-4CA3-F01D-41C3BC941F69}"/>
              </a:ext>
            </a:extLst>
          </p:cNvPr>
          <p:cNvSpPr txBox="1"/>
          <p:nvPr/>
        </p:nvSpPr>
        <p:spPr>
          <a:xfrm>
            <a:off x="5933457" y="3682997"/>
            <a:ext cx="2184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ADS1115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077B74F-6AB8-19FC-BA66-512434758CFD}"/>
              </a:ext>
            </a:extLst>
          </p:cNvPr>
          <p:cNvSpPr txBox="1"/>
          <p:nvPr/>
        </p:nvSpPr>
        <p:spPr>
          <a:xfrm>
            <a:off x="8662259" y="3682997"/>
            <a:ext cx="2463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OLED</a:t>
            </a:r>
          </a:p>
        </p:txBody>
      </p:sp>
    </p:spTree>
    <p:extLst>
      <p:ext uri="{BB962C8B-B14F-4D97-AF65-F5344CB8AC3E}">
        <p14:creationId xmlns:p14="http://schemas.microsoft.com/office/powerpoint/2010/main" val="2289794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8447B62-49F9-5B83-A3F8-DE09AA8D66AA}"/>
              </a:ext>
            </a:extLst>
          </p:cNvPr>
          <p:cNvSpPr txBox="1"/>
          <p:nvPr/>
        </p:nvSpPr>
        <p:spPr>
          <a:xfrm>
            <a:off x="1720645" y="64124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System </a:t>
            </a:r>
            <a:r>
              <a:rPr lang="pt-BR" sz="3200" dirty="0" err="1"/>
              <a:t>Architecture</a:t>
            </a:r>
            <a:endParaRPr lang="pt-BR" sz="3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8F5D8F-A861-6266-308A-920ABCE75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4" y="1736267"/>
            <a:ext cx="11012129" cy="367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34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9606ED9-5FA4-785E-9CEB-8D8BECE81547}"/>
              </a:ext>
            </a:extLst>
          </p:cNvPr>
          <p:cNvSpPr txBox="1"/>
          <p:nvPr/>
        </p:nvSpPr>
        <p:spPr>
          <a:xfrm>
            <a:off x="1681316" y="63141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 err="1"/>
              <a:t>Signal</a:t>
            </a:r>
            <a:r>
              <a:rPr lang="pt-BR" sz="3200" dirty="0"/>
              <a:t> </a:t>
            </a:r>
            <a:r>
              <a:rPr lang="pt-BR" sz="3200" dirty="0" err="1"/>
              <a:t>Processing</a:t>
            </a:r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750B15E-1197-734E-21DF-43D85BDA5BBC}"/>
              </a:ext>
            </a:extLst>
          </p:cNvPr>
          <p:cNvSpPr txBox="1"/>
          <p:nvPr/>
        </p:nvSpPr>
        <p:spPr>
          <a:xfrm>
            <a:off x="1681316" y="1330008"/>
            <a:ext cx="974376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Pipeline:</a:t>
            </a:r>
          </a:p>
          <a:p>
            <a:pPr lvl="1"/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ECG: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Original electrical cardiac signal acquired from the electrodes, still containing noise and baseline variations.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↓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b="1" dirty="0" err="1">
                <a:latin typeface="Courier New" panose="02070309020205020404" pitchFamily="49" charset="0"/>
              </a:rPr>
              <a:t>Derivative</a:t>
            </a:r>
            <a:r>
              <a:rPr lang="pt-BR" b="1" dirty="0">
                <a:latin typeface="Courier New" panose="02070309020205020404" pitchFamily="49" charset="0"/>
              </a:rPr>
              <a:t>:</a:t>
            </a:r>
            <a:r>
              <a:rPr lang="pt-BR" dirty="0">
                <a:latin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Emphasizes rapid signal changes, helping to highlight the QRS complex.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↓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b="1" dirty="0" err="1">
                <a:latin typeface="Courier New" panose="02070309020205020404" pitchFamily="49" charset="0"/>
              </a:rPr>
              <a:t>Squaring</a:t>
            </a:r>
            <a:r>
              <a:rPr lang="pt-BR" b="1" dirty="0">
                <a:latin typeface="Courier New" panose="02070309020205020404" pitchFamily="49" charset="0"/>
              </a:rPr>
              <a:t>:</a:t>
            </a:r>
            <a:r>
              <a:rPr lang="pt-BR" dirty="0">
                <a:latin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Squares the signal values, enhancing large peaks and making all values positive.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↓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b="1" dirty="0">
                <a:latin typeface="Courier New" panose="02070309020205020404" pitchFamily="49" charset="0"/>
              </a:rPr>
              <a:t>Moving </a:t>
            </a:r>
            <a:r>
              <a:rPr lang="pt-BR" b="1" dirty="0" err="1">
                <a:latin typeface="Courier New" panose="02070309020205020404" pitchFamily="49" charset="0"/>
              </a:rPr>
              <a:t>Window</a:t>
            </a:r>
            <a:r>
              <a:rPr lang="pt-BR" b="1" dirty="0">
                <a:latin typeface="Courier New" panose="02070309020205020404" pitchFamily="49" charset="0"/>
              </a:rPr>
              <a:t> </a:t>
            </a:r>
            <a:r>
              <a:rPr lang="pt-BR" b="1" dirty="0" err="1">
                <a:latin typeface="Courier New" panose="02070309020205020404" pitchFamily="49" charset="0"/>
              </a:rPr>
              <a:t>Integration</a:t>
            </a:r>
            <a:r>
              <a:rPr lang="pt-BR" b="1" dirty="0">
                <a:latin typeface="Courier New" panose="02070309020205020404" pitchFamily="49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Smooths the processed signal and emphasizes regions where heartbeats occur.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↓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b="1" dirty="0" err="1">
                <a:latin typeface="Courier New" panose="02070309020205020404" pitchFamily="49" charset="0"/>
              </a:rPr>
              <a:t>Adaptive</a:t>
            </a:r>
            <a:r>
              <a:rPr lang="pt-BR" b="1" dirty="0">
                <a:latin typeface="Courier New" panose="02070309020205020404" pitchFamily="49" charset="0"/>
              </a:rPr>
              <a:t> </a:t>
            </a:r>
            <a:r>
              <a:rPr lang="pt-BR" b="1" dirty="0" err="1">
                <a:latin typeface="Courier New" panose="02070309020205020404" pitchFamily="49" charset="0"/>
              </a:rPr>
              <a:t>Threshold</a:t>
            </a:r>
            <a:r>
              <a:rPr lang="pt-BR" b="1" dirty="0">
                <a:latin typeface="Courier New" panose="02070309020205020404" pitchFamily="49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Dynamically adjusts the detection threshold to distinguish real heartbeats from noise.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↓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b="1" dirty="0">
                <a:latin typeface="Courier New" panose="02070309020205020404" pitchFamily="49" charset="0"/>
              </a:rPr>
              <a:t>R-</a:t>
            </a:r>
            <a:r>
              <a:rPr lang="pt-BR" b="1" dirty="0" err="1">
                <a:latin typeface="Courier New" panose="02070309020205020404" pitchFamily="49" charset="0"/>
              </a:rPr>
              <a:t>Peak</a:t>
            </a:r>
            <a:r>
              <a:rPr lang="pt-BR" b="1" dirty="0">
                <a:latin typeface="Courier New" panose="02070309020205020404" pitchFamily="49" charset="0"/>
              </a:rPr>
              <a:t> </a:t>
            </a:r>
            <a:r>
              <a:rPr lang="pt-BR" b="1" dirty="0" err="1">
                <a:latin typeface="Courier New" panose="02070309020205020404" pitchFamily="49" charset="0"/>
              </a:rPr>
              <a:t>Detection</a:t>
            </a:r>
            <a:r>
              <a:rPr lang="pt-BR" b="1" dirty="0">
                <a:latin typeface="Courier New" panose="02070309020205020404" pitchFamily="49" charset="0"/>
              </a:rPr>
              <a:t>:</a:t>
            </a:r>
            <a:r>
              <a:rPr lang="pt-BR" dirty="0">
                <a:latin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Identifies R peaks, which are used to calculate RR intervals, BPM, and support arrhythmia classification.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561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F5F95-9065-99F0-B22C-BB1C547A3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8F033C4-05F7-4230-67CE-593843EABB8D}"/>
              </a:ext>
            </a:extLst>
          </p:cNvPr>
          <p:cNvSpPr txBox="1"/>
          <p:nvPr/>
        </p:nvSpPr>
        <p:spPr>
          <a:xfrm>
            <a:off x="1681316" y="63141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 err="1"/>
              <a:t>Signal</a:t>
            </a:r>
            <a:r>
              <a:rPr lang="pt-BR" sz="3200" dirty="0"/>
              <a:t> </a:t>
            </a:r>
            <a:r>
              <a:rPr lang="pt-BR" sz="3200" dirty="0" err="1"/>
              <a:t>Processing</a:t>
            </a:r>
            <a:endParaRPr lang="pt-B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6B754F9E-A7BD-1B87-69B3-D3B326DE2ECD}"/>
                  </a:ext>
                </a:extLst>
              </p:cNvPr>
              <p:cNvSpPr txBox="1"/>
              <p:nvPr/>
            </p:nvSpPr>
            <p:spPr>
              <a:xfrm>
                <a:off x="1681316" y="1330008"/>
                <a:ext cx="9743768" cy="387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pt-BR" b="1" dirty="0"/>
                  <a:t>Pipeline:</a:t>
                </a:r>
              </a:p>
              <a:p>
                <a:pPr lvl="1"/>
                <a:r>
                  <a:rPr lang="pt-BR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Raw</a:t>
                </a:r>
                <a:r>
                  <a:rPr lang="pt-BR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ECG: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𝒙</m:t>
                    </m:r>
                    <m:r>
                      <a:rPr lang="pt-BR" b="1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[</m:t>
                    </m:r>
                    <m:r>
                      <a:rPr lang="pt-BR" b="1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𝒏</m:t>
                    </m:r>
                    <m:r>
                      <a:rPr lang="pt-BR" b="1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]</m:t>
                    </m:r>
                  </m:oMath>
                </a14:m>
                <a:br>
                  <a:rPr lang="pt-BR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pt-BR" dirty="0">
                    <a:latin typeface="Courier New" panose="02070309020205020404" pitchFamily="49" charset="0"/>
                  </a:rPr>
                  <a:t>   ↓</a:t>
                </a:r>
                <a:br>
                  <a:rPr lang="pt-BR" dirty="0">
                    <a:latin typeface="Courier New" panose="02070309020205020404" pitchFamily="49" charset="0"/>
                  </a:rPr>
                </a:br>
                <a:r>
                  <a:rPr lang="pt-BR" b="1" dirty="0" err="1">
                    <a:latin typeface="Courier New" panose="02070309020205020404" pitchFamily="49" charset="0"/>
                  </a:rPr>
                  <a:t>Derivative</a:t>
                </a:r>
                <a:r>
                  <a:rPr lang="pt-BR" b="1" dirty="0">
                    <a:latin typeface="Courier New" panose="02070309020205020404" pitchFamily="49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𝒚</m:t>
                    </m:r>
                    <m:d>
                      <m:dPr>
                        <m:begChr m:val="["/>
                        <m:endChr m:val="]"/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pt-B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br>
                  <a:rPr lang="pt-BR" dirty="0">
                    <a:latin typeface="Courier New" panose="02070309020205020404" pitchFamily="49" charset="0"/>
                  </a:rPr>
                </a:br>
                <a:r>
                  <a:rPr lang="pt-BR" dirty="0">
                    <a:latin typeface="Courier New" panose="02070309020205020404" pitchFamily="49" charset="0"/>
                  </a:rPr>
                  <a:t>   ↓</a:t>
                </a:r>
                <a:br>
                  <a:rPr lang="pt-BR" dirty="0">
                    <a:latin typeface="Courier New" panose="02070309020205020404" pitchFamily="49" charset="0"/>
                  </a:rPr>
                </a:br>
                <a:r>
                  <a:rPr lang="pt-BR" b="1" dirty="0" err="1">
                    <a:latin typeface="Courier New" panose="02070309020205020404" pitchFamily="49" charset="0"/>
                  </a:rPr>
                  <a:t>Squaring</a:t>
                </a:r>
                <a:r>
                  <a:rPr lang="pt-BR" b="1" dirty="0">
                    <a:latin typeface="Courier New" panose="02070309020205020404" pitchFamily="49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𝒚</m:t>
                    </m:r>
                    <m:d>
                      <m:dPr>
                        <m:begChr m:val="["/>
                        <m:endChr m:val="]"/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pt-BR" b="1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])²</m:t>
                    </m:r>
                  </m:oMath>
                </a14:m>
                <a:br>
                  <a:rPr lang="pt-BR" dirty="0">
                    <a:latin typeface="Courier New" panose="02070309020205020404" pitchFamily="49" charset="0"/>
                  </a:rPr>
                </a:br>
                <a:r>
                  <a:rPr lang="pt-BR" dirty="0">
                    <a:latin typeface="Courier New" panose="02070309020205020404" pitchFamily="49" charset="0"/>
                  </a:rPr>
                  <a:t>   ↓</a:t>
                </a:r>
                <a:br>
                  <a:rPr lang="pt-BR" dirty="0">
                    <a:latin typeface="Courier New" panose="02070309020205020404" pitchFamily="49" charset="0"/>
                  </a:rPr>
                </a:br>
                <a:r>
                  <a:rPr lang="pt-BR" b="1" dirty="0">
                    <a:latin typeface="Courier New" panose="02070309020205020404" pitchFamily="49" charset="0"/>
                  </a:rPr>
                  <a:t>Moving </a:t>
                </a:r>
                <a:r>
                  <a:rPr lang="pt-BR" b="1" dirty="0" err="1">
                    <a:latin typeface="Courier New" panose="02070309020205020404" pitchFamily="49" charset="0"/>
                  </a:rPr>
                  <a:t>Window</a:t>
                </a:r>
                <a:r>
                  <a:rPr lang="pt-BR" b="1" dirty="0">
                    <a:latin typeface="Courier New" panose="02070309020205020404" pitchFamily="49" charset="0"/>
                  </a:rPr>
                  <a:t> </a:t>
                </a:r>
                <a:r>
                  <a:rPr lang="pt-BR" b="1" dirty="0" err="1">
                    <a:latin typeface="Courier New" panose="02070309020205020404" pitchFamily="49" charset="0"/>
                  </a:rPr>
                  <a:t>Integration</a:t>
                </a:r>
                <a:r>
                  <a:rPr lang="pt-BR" b="1" dirty="0">
                    <a:latin typeface="Courier New" panose="02070309020205020404" pitchFamily="49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br>
                  <a:rPr lang="pt-BR" dirty="0">
                    <a:latin typeface="Courier New" panose="02070309020205020404" pitchFamily="49" charset="0"/>
                  </a:rPr>
                </a:br>
                <a:r>
                  <a:rPr lang="pt-BR" dirty="0">
                    <a:latin typeface="Courier New" panose="02070309020205020404" pitchFamily="49" charset="0"/>
                  </a:rPr>
                  <a:t>   ↓</a:t>
                </a:r>
                <a:br>
                  <a:rPr lang="pt-BR" dirty="0">
                    <a:latin typeface="Courier New" panose="02070309020205020404" pitchFamily="49" charset="0"/>
                  </a:rPr>
                </a:br>
                <a:r>
                  <a:rPr lang="pt-BR" b="1" dirty="0" err="1">
                    <a:latin typeface="Courier New" panose="02070309020205020404" pitchFamily="49" charset="0"/>
                  </a:rPr>
                  <a:t>Adaptive</a:t>
                </a:r>
                <a:r>
                  <a:rPr lang="pt-BR" b="1" dirty="0">
                    <a:latin typeface="Courier New" panose="02070309020205020404" pitchFamily="49" charset="0"/>
                  </a:rPr>
                  <a:t> </a:t>
                </a:r>
                <a:r>
                  <a:rPr lang="pt-BR" b="1" dirty="0" err="1">
                    <a:latin typeface="Courier New" panose="02070309020205020404" pitchFamily="49" charset="0"/>
                  </a:rPr>
                  <a:t>Threshold</a:t>
                </a:r>
                <a:r>
                  <a:rPr lang="pt-BR" b="1" dirty="0">
                    <a:latin typeface="Courier New" panose="02070309020205020404" pitchFamily="49" charset="0"/>
                  </a:rPr>
                  <a:t>: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𝑻𝑯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𝑵𝑷𝑲𝑰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𝑺𝑷𝑲𝑰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𝑵𝑷𝑲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pt-BR" dirty="0">
                    <a:latin typeface="Courier New" panose="02070309020205020404" pitchFamily="49" charset="0"/>
                  </a:rPr>
                </a:br>
                <a:r>
                  <a:rPr lang="pt-BR" dirty="0">
                    <a:latin typeface="Courier New" panose="02070309020205020404" pitchFamily="49" charset="0"/>
                  </a:rPr>
                  <a:t>   ↓</a:t>
                </a:r>
                <a:br>
                  <a:rPr lang="pt-BR" dirty="0">
                    <a:latin typeface="Courier New" panose="02070309020205020404" pitchFamily="49" charset="0"/>
                  </a:rPr>
                </a:br>
                <a:r>
                  <a:rPr lang="pt-BR" b="1" dirty="0">
                    <a:latin typeface="Courier New" panose="02070309020205020404" pitchFamily="49" charset="0"/>
                  </a:rPr>
                  <a:t>R-</a:t>
                </a:r>
                <a:r>
                  <a:rPr lang="pt-BR" b="1" dirty="0" err="1">
                    <a:latin typeface="Courier New" panose="02070309020205020404" pitchFamily="49" charset="0"/>
                  </a:rPr>
                  <a:t>Peak</a:t>
                </a:r>
                <a:r>
                  <a:rPr lang="pt-BR" b="1" dirty="0">
                    <a:latin typeface="Courier New" panose="02070309020205020404" pitchFamily="49" charset="0"/>
                  </a:rPr>
                  <a:t> </a:t>
                </a:r>
                <a:r>
                  <a:rPr lang="pt-BR" b="1" dirty="0" err="1">
                    <a:latin typeface="Courier New" panose="02070309020205020404" pitchFamily="49" charset="0"/>
                  </a:rPr>
                  <a:t>Detection</a:t>
                </a:r>
                <a:r>
                  <a:rPr lang="pt-BR" b="1" dirty="0">
                    <a:latin typeface="Courier New" panose="02070309020205020404" pitchFamily="49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𝑷𝒆𝒂𝒌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𝑰𝑵𝑻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𝑻𝑯</m:t>
                            </m:r>
                          </m:e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𝑰𝑵𝑻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𝑻𝑯</m:t>
                            </m:r>
                          </m:e>
                        </m:eqArr>
                      </m:e>
                    </m:d>
                  </m:oMath>
                </a14:m>
                <a:endParaRPr lang="pt-BR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6B754F9E-A7BD-1B87-69B3-D3B326DE2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316" y="1330008"/>
                <a:ext cx="9743768" cy="3878947"/>
              </a:xfrm>
              <a:prstGeom prst="rect">
                <a:avLst/>
              </a:prstGeom>
              <a:blipFill>
                <a:blip r:embed="rId2"/>
                <a:stretch>
                  <a:fillRect l="-563" t="-7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5675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F982E80-7B33-AF46-B1A8-FE1AD0CF2513}"/>
              </a:ext>
            </a:extLst>
          </p:cNvPr>
          <p:cNvSpPr txBox="1"/>
          <p:nvPr/>
        </p:nvSpPr>
        <p:spPr>
          <a:xfrm>
            <a:off x="1691149" y="70023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Artificial </a:t>
            </a:r>
            <a:r>
              <a:rPr lang="pt-BR" sz="3200" dirty="0" err="1"/>
              <a:t>Intelligence</a:t>
            </a:r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1954177-D8C6-60E8-1FC3-7A24E82F6314}"/>
              </a:ext>
            </a:extLst>
          </p:cNvPr>
          <p:cNvSpPr txBox="1"/>
          <p:nvPr/>
        </p:nvSpPr>
        <p:spPr>
          <a:xfrm>
            <a:off x="1691149" y="1564629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1D CNN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MIT-BIH dataset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Synthetic signals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Real-time classification</a:t>
            </a:r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37079BE-F2CC-1694-2DB1-E7C1CEFA8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149" y="3167685"/>
            <a:ext cx="7344696" cy="268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20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F4BCFDE-7DED-5505-B2F5-99EF69E1B5E0}"/>
              </a:ext>
            </a:extLst>
          </p:cNvPr>
          <p:cNvSpPr txBox="1"/>
          <p:nvPr/>
        </p:nvSpPr>
        <p:spPr>
          <a:xfrm>
            <a:off x="1730477" y="66090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CNN </a:t>
            </a:r>
            <a:r>
              <a:rPr lang="pt-BR" sz="3200" dirty="0" err="1"/>
              <a:t>Architecture</a:t>
            </a:r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DF228D7-8DFF-9085-ABA1-F072796C6705}"/>
              </a:ext>
            </a:extLst>
          </p:cNvPr>
          <p:cNvSpPr txBox="1"/>
          <p:nvPr/>
        </p:nvSpPr>
        <p:spPr>
          <a:xfrm>
            <a:off x="1730476" y="1362049"/>
            <a:ext cx="1015672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Conv1D: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Extracts local patterns from the ECG signal, such as QRS morphology and waveform variations.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↓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MaxPooling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Reduces the signal size while keeping the most important features.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↓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Conv1D: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Extracts deeper and more complex ECG features from the previous layer.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↓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Dense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Combines the extracted features to support the final rhythm decision.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↓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Softmax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Converts the final outputs into class probabilities, indicating the most likely ECG class.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64571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DC87FE-A9D0-C438-DB45-565105A5A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076" y="969479"/>
            <a:ext cx="1037788" cy="103778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7A13A74-2825-1B09-1C0E-1363CFC87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981" y="2243511"/>
            <a:ext cx="1816510" cy="181651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2E7293C-D7D5-A592-9024-722F785A4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042899" y="2161718"/>
            <a:ext cx="1980096" cy="198009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8FDE799-6347-C674-DD00-09FA6BC67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573" y="293616"/>
            <a:ext cx="1145459" cy="114545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BFAD7FA-644F-B7FD-82D1-727AA1477C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802" y="4659384"/>
            <a:ext cx="1905000" cy="1905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21C6AF3-2592-48CA-88FB-8057B890B4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0486" y="2362155"/>
            <a:ext cx="722644" cy="722644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C02BC95-C17A-041F-0087-A17CCE0B7E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367068" y="2234995"/>
            <a:ext cx="1628468" cy="162846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F79E3AB0-A08C-94B0-EA6F-66DD391DEB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4842" y="4659384"/>
            <a:ext cx="1216256" cy="1216256"/>
          </a:xfrm>
          <a:prstGeom prst="rect">
            <a:avLst/>
          </a:prstGeom>
        </p:spPr>
      </p:pic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7529C432-1EDA-7A47-AB73-9F7BF815C642}"/>
              </a:ext>
            </a:extLst>
          </p:cNvPr>
          <p:cNvCxnSpPr>
            <a:stCxn id="5" idx="2"/>
          </p:cNvCxnSpPr>
          <p:nvPr/>
        </p:nvCxnSpPr>
        <p:spPr>
          <a:xfrm>
            <a:off x="3895236" y="4060021"/>
            <a:ext cx="0" cy="1207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BD7726B9-D38F-29A4-6F19-1D19DD4E9439}"/>
              </a:ext>
            </a:extLst>
          </p:cNvPr>
          <p:cNvCxnSpPr/>
          <p:nvPr/>
        </p:nvCxnSpPr>
        <p:spPr>
          <a:xfrm flipH="1">
            <a:off x="2802194" y="5267512"/>
            <a:ext cx="10930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60CD156-6AAA-0B4E-3E4D-069F93138927}"/>
              </a:ext>
            </a:extLst>
          </p:cNvPr>
          <p:cNvSpPr txBox="1"/>
          <p:nvPr/>
        </p:nvSpPr>
        <p:spPr>
          <a:xfrm>
            <a:off x="2802194" y="4928958"/>
            <a:ext cx="1216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RESULTS</a:t>
            </a:r>
            <a:endParaRPr lang="pt-BR" dirty="0"/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00B5101F-4588-F9B9-30CB-CC35DF701E8F}"/>
              </a:ext>
            </a:extLst>
          </p:cNvPr>
          <p:cNvCxnSpPr>
            <a:stCxn id="5" idx="1"/>
          </p:cNvCxnSpPr>
          <p:nvPr/>
        </p:nvCxnSpPr>
        <p:spPr>
          <a:xfrm flipH="1">
            <a:off x="2082970" y="3151766"/>
            <a:ext cx="9040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F9564F10-157C-84A9-AE3E-584CBB1F6904}"/>
              </a:ext>
            </a:extLst>
          </p:cNvPr>
          <p:cNvCxnSpPr>
            <a:endCxn id="3" idx="2"/>
          </p:cNvCxnSpPr>
          <p:nvPr/>
        </p:nvCxnSpPr>
        <p:spPr>
          <a:xfrm flipV="1">
            <a:off x="2082970" y="2007267"/>
            <a:ext cx="0" cy="11444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2C68080-5210-DA6A-6B2F-E557D0C95456}"/>
              </a:ext>
            </a:extLst>
          </p:cNvPr>
          <p:cNvSpPr txBox="1"/>
          <p:nvPr/>
        </p:nvSpPr>
        <p:spPr>
          <a:xfrm>
            <a:off x="2110154" y="2746245"/>
            <a:ext cx="9040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LEARN</a:t>
            </a:r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34E181D-1E45-C722-642C-4C8974253D04}"/>
              </a:ext>
            </a:extLst>
          </p:cNvPr>
          <p:cNvSpPr txBox="1"/>
          <p:nvPr/>
        </p:nvSpPr>
        <p:spPr>
          <a:xfrm>
            <a:off x="2562156" y="1297858"/>
            <a:ext cx="2241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MIT-BIH DATABASE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2C493856-82A4-ECE0-70B9-5139936B78A0}"/>
              </a:ext>
            </a:extLst>
          </p:cNvPr>
          <p:cNvCxnSpPr>
            <a:stCxn id="7" idx="2"/>
          </p:cNvCxnSpPr>
          <p:nvPr/>
        </p:nvCxnSpPr>
        <p:spPr>
          <a:xfrm flipH="1">
            <a:off x="4935794" y="3151766"/>
            <a:ext cx="21071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B9DC9DAB-82F8-C534-F99A-BA3D02D1253B}"/>
              </a:ext>
            </a:extLst>
          </p:cNvPr>
          <p:cNvCxnSpPr>
            <a:endCxn id="9" idx="1"/>
          </p:cNvCxnSpPr>
          <p:nvPr/>
        </p:nvCxnSpPr>
        <p:spPr>
          <a:xfrm>
            <a:off x="7964129" y="866345"/>
            <a:ext cx="1644444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BF64BE96-AFE1-B6D6-FF14-7C1BFF15AF3B}"/>
              </a:ext>
            </a:extLst>
          </p:cNvPr>
          <p:cNvCxnSpPr/>
          <p:nvPr/>
        </p:nvCxnSpPr>
        <p:spPr>
          <a:xfrm>
            <a:off x="7964129" y="866345"/>
            <a:ext cx="0" cy="1140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DAC0EDAF-99C6-658C-6124-4EA58123750B}"/>
              </a:ext>
            </a:extLst>
          </p:cNvPr>
          <p:cNvSpPr txBox="1"/>
          <p:nvPr/>
        </p:nvSpPr>
        <p:spPr>
          <a:xfrm>
            <a:off x="8285576" y="528897"/>
            <a:ext cx="147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DETECT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83456B40-B882-901B-1E50-2BEB9895A993}"/>
              </a:ext>
            </a:extLst>
          </p:cNvPr>
          <p:cNvSpPr txBox="1"/>
          <p:nvPr/>
        </p:nvSpPr>
        <p:spPr>
          <a:xfrm>
            <a:off x="9022994" y="2087510"/>
            <a:ext cx="23627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PAN-TOMPKINS</a:t>
            </a:r>
            <a:endParaRPr lang="pt-BR" dirty="0"/>
          </a:p>
        </p:txBody>
      </p: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F32F1901-9491-9EA9-BB70-AE6ACA3245F3}"/>
              </a:ext>
            </a:extLst>
          </p:cNvPr>
          <p:cNvCxnSpPr>
            <a:stCxn id="7" idx="0"/>
          </p:cNvCxnSpPr>
          <p:nvPr/>
        </p:nvCxnSpPr>
        <p:spPr>
          <a:xfrm>
            <a:off x="9022995" y="3151766"/>
            <a:ext cx="5855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D8EFF25-2C50-E6D3-0A14-76AF27E292CE}"/>
              </a:ext>
            </a:extLst>
          </p:cNvPr>
          <p:cNvCxnSpPr>
            <a:cxnSpLocks/>
          </p:cNvCxnSpPr>
          <p:nvPr/>
        </p:nvCxnSpPr>
        <p:spPr>
          <a:xfrm>
            <a:off x="8032955" y="4355690"/>
            <a:ext cx="0" cy="12561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A26C822A-1B4F-E0B6-8ADE-EFE3CAF5AD2D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8032955" y="5611884"/>
            <a:ext cx="11958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18E0D75-6E6C-211D-EFBD-964BD8355DF0}"/>
              </a:ext>
            </a:extLst>
          </p:cNvPr>
          <p:cNvSpPr txBox="1"/>
          <p:nvPr/>
        </p:nvSpPr>
        <p:spPr>
          <a:xfrm>
            <a:off x="8012551" y="5273331"/>
            <a:ext cx="1216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RESULTS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8105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DC28232-B73B-EE41-91F6-80BE7C8297C8}"/>
              </a:ext>
            </a:extLst>
          </p:cNvPr>
          <p:cNvSpPr txBox="1"/>
          <p:nvPr/>
        </p:nvSpPr>
        <p:spPr>
          <a:xfrm>
            <a:off x="1651820" y="6707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AI </a:t>
            </a:r>
            <a:r>
              <a:rPr lang="pt-BR" sz="3200" dirty="0" err="1"/>
              <a:t>Results</a:t>
            </a:r>
            <a:endParaRPr lang="pt-BR" sz="32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4557BDB-D62F-82B5-8E66-8D7743EBB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959" y="444597"/>
            <a:ext cx="4366118" cy="436611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B7E9799-4163-8154-931F-0B7BA8CCE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52" y="2948731"/>
            <a:ext cx="5958348" cy="372396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E74030-48FA-0375-4743-DB0233CBB683}"/>
              </a:ext>
            </a:extLst>
          </p:cNvPr>
          <p:cNvSpPr txBox="1"/>
          <p:nvPr/>
        </p:nvSpPr>
        <p:spPr>
          <a:xfrm>
            <a:off x="1336890" y="1363459"/>
            <a:ext cx="57810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CNN test set: MIT-BIH ECG windows</a:t>
            </a:r>
          </a:p>
          <a:p>
            <a:r>
              <a:rPr lang="en-US" dirty="0"/>
              <a:t>Final accuracy: 90.63%</a:t>
            </a:r>
          </a:p>
          <a:p>
            <a:r>
              <a:rPr lang="en-US" dirty="0"/>
              <a:t>Best performance: normal and ventricular classes</a:t>
            </a:r>
          </a:p>
          <a:p>
            <a:r>
              <a:rPr lang="en-US" dirty="0"/>
              <a:t>Limitation: minority classes affected by imbalance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8790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EDD5807-40E7-8FF2-5F55-7CFFCF00CB63}"/>
              </a:ext>
            </a:extLst>
          </p:cNvPr>
          <p:cNvSpPr txBox="1"/>
          <p:nvPr/>
        </p:nvSpPr>
        <p:spPr>
          <a:xfrm>
            <a:off x="1681316" y="65107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Real-Time Monitor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3825E8B-5624-D44F-5976-BCC110EEF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87" y="1326174"/>
            <a:ext cx="9822426" cy="520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16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4E35-EFC5-5059-DEF6-0731D58C8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42DD3A7-3818-75C9-E711-69776656D997}"/>
              </a:ext>
            </a:extLst>
          </p:cNvPr>
          <p:cNvSpPr txBox="1"/>
          <p:nvPr/>
        </p:nvSpPr>
        <p:spPr>
          <a:xfrm>
            <a:off x="1681316" y="65107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Real-Time Monitor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0A92E5C-45EB-9984-6154-FF31272F4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441" y="1235851"/>
            <a:ext cx="8438295" cy="546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386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27A6359-7480-7B4D-66E4-3B0705AEDDBE}"/>
              </a:ext>
            </a:extLst>
          </p:cNvPr>
          <p:cNvSpPr txBox="1"/>
          <p:nvPr/>
        </p:nvSpPr>
        <p:spPr>
          <a:xfrm>
            <a:off x="1750142" y="660908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Future </a:t>
            </a:r>
            <a:r>
              <a:rPr lang="pt-BR" sz="3200" dirty="0" err="1"/>
              <a:t>Work</a:t>
            </a:r>
            <a:r>
              <a:rPr lang="pt-BR" sz="3200" dirty="0"/>
              <a:t> &amp; </a:t>
            </a:r>
            <a:r>
              <a:rPr lang="pt-BR" sz="3200" dirty="0" err="1"/>
              <a:t>Limitations</a:t>
            </a:r>
            <a:endParaRPr lang="pt-BR" sz="3200" dirty="0"/>
          </a:p>
          <a:p>
            <a:endParaRPr lang="pt-BR" sz="3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D00B655-B6E4-E9A7-64EC-078CCA2957FE}"/>
              </a:ext>
            </a:extLst>
          </p:cNvPr>
          <p:cNvSpPr txBox="1"/>
          <p:nvPr/>
        </p:nvSpPr>
        <p:spPr>
          <a:xfrm>
            <a:off x="1750142" y="1505634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 of a PCB;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 finger sensor;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Improving the analog front-end and electrode connection stability;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better filtering techniques for noise reduction;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the number of real ECG acquisitions;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Balancing the CNN dataset;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Improving classification of minority classes;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Deploying </a:t>
            </a:r>
            <a:r>
              <a:rPr lang="en-US" dirty="0" err="1"/>
              <a:t>TinyML</a:t>
            </a:r>
            <a:r>
              <a:rPr lang="en-US" dirty="0"/>
              <a:t> inference directly on the ESP32-S3;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MQTT, BLE, or </a:t>
            </a:r>
            <a:r>
              <a:rPr lang="en-US" dirty="0" err="1"/>
              <a:t>WiFi</a:t>
            </a:r>
            <a:r>
              <a:rPr lang="en-US" dirty="0"/>
              <a:t> communication;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Developing a mobile application;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Performing validation with controlled biomedical datasets;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Investigating clinical validation in partnership with healthcare professionals.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DAEB4BB-BC45-2550-350B-D0969BC9DE6E}"/>
              </a:ext>
            </a:extLst>
          </p:cNvPr>
          <p:cNvSpPr txBox="1"/>
          <p:nvPr/>
        </p:nvSpPr>
        <p:spPr>
          <a:xfrm>
            <a:off x="7659328" y="1505634"/>
            <a:ext cx="4090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Noise </a:t>
            </a:r>
            <a:r>
              <a:rPr lang="pt-BR" dirty="0" err="1"/>
              <a:t>sensitivity</a:t>
            </a:r>
            <a:r>
              <a:rPr lang="pt-BR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No </a:t>
            </a:r>
            <a:r>
              <a:rPr lang="pt-BR" dirty="0" err="1"/>
              <a:t>clinical</a:t>
            </a:r>
            <a:r>
              <a:rPr lang="pt-BR" dirty="0"/>
              <a:t> </a:t>
            </a:r>
            <a:r>
              <a:rPr lang="pt-BR" dirty="0" err="1"/>
              <a:t>validation</a:t>
            </a:r>
            <a:r>
              <a:rPr lang="pt-BR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Limited</a:t>
            </a:r>
            <a:r>
              <a:rPr lang="pt-BR" dirty="0"/>
              <a:t> </a:t>
            </a:r>
            <a:r>
              <a:rPr lang="pt-BR" dirty="0" err="1"/>
              <a:t>dataset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3405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3CE69F5-E83A-9EB4-8E29-CDB1E746C513}"/>
              </a:ext>
            </a:extLst>
          </p:cNvPr>
          <p:cNvSpPr txBox="1"/>
          <p:nvPr/>
        </p:nvSpPr>
        <p:spPr>
          <a:xfrm>
            <a:off x="1730478" y="6707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 err="1"/>
              <a:t>Conclusion</a:t>
            </a:r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C313D98-3F31-983E-36D0-606FB91E9F34}"/>
              </a:ext>
            </a:extLst>
          </p:cNvPr>
          <p:cNvSpPr txBox="1"/>
          <p:nvPr/>
        </p:nvSpPr>
        <p:spPr>
          <a:xfrm>
            <a:off x="1809135" y="148597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Functional system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Real-time ECG monitoring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AI-assisted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Low-cost architecture</a:t>
            </a:r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11A4635-537D-E867-CE3D-0B7FD0299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052" y="751843"/>
            <a:ext cx="2732429" cy="535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25116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1465</TotalTime>
  <Words>611</Words>
  <Application>Microsoft Office PowerPoint</Application>
  <PresentationFormat>Widescreen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Arial</vt:lpstr>
      <vt:lpstr>Cambria Math</vt:lpstr>
      <vt:lpstr>Century Gothic</vt:lpstr>
      <vt:lpstr>Courier New</vt:lpstr>
      <vt:lpstr>Wingdings 3</vt:lpstr>
      <vt:lpstr>Cacho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Specht</dc:creator>
  <cp:lastModifiedBy>Guilherme Specht</cp:lastModifiedBy>
  <cp:revision>39</cp:revision>
  <dcterms:created xsi:type="dcterms:W3CDTF">2026-05-23T09:51:43Z</dcterms:created>
  <dcterms:modified xsi:type="dcterms:W3CDTF">2026-06-05T13:33:31Z</dcterms:modified>
</cp:coreProperties>
</file>